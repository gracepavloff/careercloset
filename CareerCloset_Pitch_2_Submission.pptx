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FE81-8C80-AF86-C9EF-C0F9377CC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9C8E7-E455-4EB5-AE13-83940A76E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1D79-043C-0756-3BA9-49727265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40A34-026D-AE7B-00B5-E31AC625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AB798-A19D-E3A7-D09A-339F45D5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4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570A-F9B5-7CE9-F31F-5F52C256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CDE24-DB79-461A-31EB-F89927D61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AC386-0C36-61F8-4EFF-049E85E0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718C-1667-487B-52D7-65F00AE46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D4EA-20E8-A031-4C54-DBFD449A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AE37-3FF6-7126-AEAB-35187198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A5681-2E87-9AA6-D509-22BB1169B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7E47F-00AC-F039-A244-E8E1ED8A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981A2-CC56-45A7-6339-7E5DEDD9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CAB4A-D415-72C3-872F-705CDE95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7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5AB9-0FE4-EEEF-B88A-68F0776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501E3-FA00-E8DD-3A30-BE9007D7E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4A341-5778-B03C-AF2D-F73E8F34B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C5D49-929D-8026-1CE0-1242D4E7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B1F96-C062-7479-9666-3825442F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BE8DF-5402-3E5F-1C1C-66A5A049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3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56193-EBAC-F676-0890-55085491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ECD94-047D-706F-1AB5-BFB7961CC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56529-AE26-8596-ECAB-888A56724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72C5B-B37C-0A59-384E-7E65DB2A8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6092F-37ED-B401-CE8D-A223273B9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A44EC-2DFC-3AA6-5C95-3E15690D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A6C621-023F-BAEC-F01D-95226875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B55E3-9F66-1F86-6871-9581940A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5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471B2-E573-0C03-D1E2-B579F31C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3EAEA-11C4-595C-59F4-EEA66E86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1467A-88BC-4131-8D1F-CD524977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1DA0C-933C-11A8-DADF-C406C3DB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2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A3C97-9A13-80BC-B411-7CD41BA7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61240-A646-C70C-1202-2ABEB0A16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FD936-8835-6CC2-C346-2335DC29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59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30AD-E803-0072-38B1-EB9AF3900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51D95-F6A0-1623-B16E-40D1D4484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12295-6B6A-6F52-8324-3FE3A726E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8A76C-F198-8338-7C77-199F281A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D4026-FD59-AABC-9EDE-6D21FF9E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C78C79-74E2-4C0D-30FA-537DE2C4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9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32E0-60FE-6E2C-1B73-08BA6CC01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6B2AB3-EFF7-87DC-8F9D-63B4F734A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69712-45DB-3238-A89C-14A18CB2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74098-117B-13C7-72DB-E837973C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0C12C-5C0E-8114-D257-0E4D9E81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0496F-6588-63BE-D541-ED69923DC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0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8F7B5-0A5E-697B-DA11-B0D01FE2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B4831-1D16-FF52-B860-D31419F3D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CC322-F193-98FF-C590-59FC87E0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6B30B-65DC-05DF-FAED-3F7A59D5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E11A9-AB3F-7A47-7282-E2663BA9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B59CE-F26D-3570-B468-0464B4A99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D5108-C511-FAA2-0FB3-F2D582E08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EF719-9FC6-9E40-EE89-132E20E21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B4070-B8BC-B62F-3CB9-6C03CBA0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23471-EB90-D06F-6194-AE3A3474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2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429908-C5AD-C618-C5C9-0D193FBE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CB24C-0D7A-BE13-BDC8-CFDE40421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0EF74-E134-3865-1FDE-24E14213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6935C-50B3-4E96-B4E6-D40CE555F1C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6D61-0B92-1C6F-AAA4-E590CBD13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9A93C-F238-58C6-AC99-3C35EB987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CE9D7-47BB-42DD-B32F-88E60DFBE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7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ABB89-7F8B-F052-09FB-DC10324A4014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CareerCloset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46543-B19D-17A0-13D2-02FC662ABC8C}"/>
              </a:ext>
            </a:extLst>
          </p:cNvPr>
          <p:cNvSpPr txBox="1"/>
          <p:nvPr/>
        </p:nvSpPr>
        <p:spPr>
          <a:xfrm>
            <a:off x="1270000" y="1587500"/>
            <a:ext cx="9652000" cy="1246495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500">
                <a:solidFill>
                  <a:srgbClr val="2B2520"/>
                </a:solidFill>
                <a:latin typeface="Aptos" panose="020B0004020202020204" pitchFamily="34" charset="0"/>
              </a:rPr>
              <a:t>Professional clothing should open doors, not close wallets.`n`nOn-campus interview and career-fair clothing rental`n`nPitch 2 | September 24,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6D136-AA5F-64ED-D75B-80BD6A619730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1 of 10</a:t>
            </a:r>
          </a:p>
        </p:txBody>
      </p:sp>
    </p:spTree>
    <p:extLst>
      <p:ext uri="{BB962C8B-B14F-4D97-AF65-F5344CB8AC3E}">
        <p14:creationId xmlns:p14="http://schemas.microsoft.com/office/powerpoint/2010/main" val="61734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F5246-00F3-B3EE-2501-985E58C33116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Customer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E9E62-4589-9BEA-9874-431D611ADB92}"/>
              </a:ext>
            </a:extLst>
          </p:cNvPr>
          <p:cNvSpPr txBox="1"/>
          <p:nvPr/>
        </p:nvSpPr>
        <p:spPr>
          <a:xfrm>
            <a:off x="1270000" y="1587500"/>
            <a:ext cx="9652000" cy="1938992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Students are expected to look ready before they can afford to be ready.`n`nThe expense: A suit or several business-professional outfits can cost more than a student can justify for a few events each semester.`n`nThe consequence: Students improvise, skip opportunities, or carry avoidable financial stress into interviews and career fairs.`n`nCustomer hypothesis: college students interviewing for internships and full-time positions.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CE7D0-4D06-0582-4636-FF070C1FEC3C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2 of 10</a:t>
            </a:r>
          </a:p>
        </p:txBody>
      </p:sp>
    </p:spTree>
    <p:extLst>
      <p:ext uri="{BB962C8B-B14F-4D97-AF65-F5344CB8AC3E}">
        <p14:creationId xmlns:p14="http://schemas.microsoft.com/office/powerpoint/2010/main" val="2435598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316AD9-2BF8-D19F-239E-A96FF7B79B12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8EF38-B316-134C-9B0A-AD4C5F6D4C71}"/>
              </a:ext>
            </a:extLst>
          </p:cNvPr>
          <p:cNvSpPr txBox="1"/>
          <p:nvPr/>
        </p:nvSpPr>
        <p:spPr>
          <a:xfrm>
            <a:off x="1270000" y="1587500"/>
            <a:ext cx="9652000" cy="1323439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Reserve the right outfit for the right event.`n`n1. Choose size + event - interview, fair, or presentation`n2. Reserve online - see a simple outfit bundle`n3. Pick up + return - near campus, after the event`n`nFirst version: small curated inventory and scheduled pickup windows.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6C527-239A-BCCC-A95B-86BB2B075B47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3 of 10</a:t>
            </a:r>
          </a:p>
        </p:txBody>
      </p:sp>
    </p:spTree>
    <p:extLst>
      <p:ext uri="{BB962C8B-B14F-4D97-AF65-F5344CB8AC3E}">
        <p14:creationId xmlns:p14="http://schemas.microsoft.com/office/powerpoint/2010/main" val="3816702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9B1220-4E33-6C6F-ABBB-1E7E7CA137F1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Customer evidence - not yet collected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1E35E-7D4B-544F-F46A-4EE5D75DF9E7}"/>
              </a:ext>
            </a:extLst>
          </p:cNvPr>
          <p:cNvSpPr txBox="1"/>
          <p:nvPr/>
        </p:nvSpPr>
        <p:spPr>
          <a:xfrm>
            <a:off x="1270000" y="1587500"/>
            <a:ext cx="9652000" cy="1015663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The need is clear. The willingness to rent must be tested.`n`n0 CareerCloset interviews in this package`n0 paid rentals completed`n30 interviews planned for the first test`n`nNo demand, conversion, fit, or return-rate result is being claimed.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77826-507A-EDA3-D8E9-5743159EC8E8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4 of 10</a:t>
            </a:r>
          </a:p>
        </p:txBody>
      </p:sp>
    </p:spTree>
    <p:extLst>
      <p:ext uri="{BB962C8B-B14F-4D97-AF65-F5344CB8AC3E}">
        <p14:creationId xmlns:p14="http://schemas.microsoft.com/office/powerpoint/2010/main" val="396328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B1905-6041-548E-DCBA-91178877AA9E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Business economics -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32C8B-D555-1E9B-F56A-F01ADA158BDC}"/>
              </a:ext>
            </a:extLst>
          </p:cNvPr>
          <p:cNvSpPr txBox="1"/>
          <p:nvPr/>
        </p:nvSpPr>
        <p:spPr>
          <a:xfrm>
            <a:off x="1270000" y="1587500"/>
            <a:ext cx="9652000" cy="1631216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Rent once for access, join for repeat moments.`n`nIndividual rental: $29 per event`nCleaning + handling: $8 variable cost per rental`nRental contribution: $21 planning assumption`nSemester membership: $79 planning assumption`n`nUniversity or employer sponsorship is an additional assumed revenue stream.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D50C4-66A9-9247-4110-EF481D3AB7AC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5 of 10</a:t>
            </a:r>
          </a:p>
        </p:txBody>
      </p:sp>
    </p:spTree>
    <p:extLst>
      <p:ext uri="{BB962C8B-B14F-4D97-AF65-F5344CB8AC3E}">
        <p14:creationId xmlns:p14="http://schemas.microsoft.com/office/powerpoint/2010/main" val="391681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C10F6-CAFD-A905-4D90-1F013BC908AC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Market wedge -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AD0F1-AABA-B752-2CCF-7C9CB57F84B8}"/>
              </a:ext>
            </a:extLst>
          </p:cNvPr>
          <p:cNvSpPr txBox="1"/>
          <p:nvPr/>
        </p:nvSpPr>
        <p:spPr>
          <a:xfrm>
            <a:off x="1270000" y="1587500"/>
            <a:ext cx="9652000" cy="1631216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Start with the career center that already owns the moment.`n`nBeachhead: one campus with 10,000 students and recurring career-fair and interview traffic.`nDistribution: career centers, student organizations, residence-life channels, and employer partners.`n`nThe campus size and channel reach are planning assumptions, not measured market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5F658-94A6-A530-F2AD-54029FA0EA09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6 of 10</a:t>
            </a:r>
          </a:p>
        </p:txBody>
      </p:sp>
    </p:spTree>
    <p:extLst>
      <p:ext uri="{BB962C8B-B14F-4D97-AF65-F5344CB8AC3E}">
        <p14:creationId xmlns:p14="http://schemas.microsoft.com/office/powerpoint/2010/main" val="2260002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39F60A-0F1B-B4DC-0CE2-143021B32B1C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The ask - assumption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7B981-4B28-39B2-48A7-3CBC89FAEB3F}"/>
              </a:ext>
            </a:extLst>
          </p:cNvPr>
          <p:cNvSpPr txBox="1"/>
          <p:nvPr/>
        </p:nvSpPr>
        <p:spPr>
          <a:xfrm>
            <a:off x="1270000" y="1587500"/>
            <a:ext cx="9652000" cy="1323439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We are asking for $15,000 to prove one campus can run the model.`n`nInstrument: SAFE`nValuation cap: $135,000 classroom assumption`nOwnership at cap: 10% scenario`n`nNo investor commitment or independent valuation has been established.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0BC81-B09B-473A-0E45-2F07D308D2E8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7 of 10</a:t>
            </a:r>
          </a:p>
        </p:txBody>
      </p:sp>
    </p:spTree>
    <p:extLst>
      <p:ext uri="{BB962C8B-B14F-4D97-AF65-F5344CB8AC3E}">
        <p14:creationId xmlns:p14="http://schemas.microsoft.com/office/powerpoint/2010/main" val="258643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8AB688-8E0F-1EC3-3121-E43B35771492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Cash, burn, and runway -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C67BC-5347-D27F-E805-E5922E64BDD2}"/>
              </a:ext>
            </a:extLst>
          </p:cNvPr>
          <p:cNvSpPr txBox="1"/>
          <p:nvPr/>
        </p:nvSpPr>
        <p:spPr>
          <a:xfrm>
            <a:off x="1270000" y="1587500"/>
            <a:ext cx="9652000" cy="1631216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Six months to turn a wardrobe problem into paid access.`n`nCurrent cash: $0 pre-financing assumption`nAsk: $15,000 proposed financing`nNet burn: $2,500 per month planned spend`nRunway: 6 months ($15,000 / $2,500)`n`nUse of funds:`n$6,000 initial inventory`n$2,000 cleaning + alteration setup`n$4,000 campus pilot + acquisition`n$3,000 software, support + contingency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73BBC-EBFB-4105-50B9-DE2984DA16CE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8 of 10</a:t>
            </a:r>
          </a:p>
        </p:txBody>
      </p:sp>
    </p:spTree>
    <p:extLst>
      <p:ext uri="{BB962C8B-B14F-4D97-AF65-F5344CB8AC3E}">
        <p14:creationId xmlns:p14="http://schemas.microsoft.com/office/powerpoint/2010/main" val="701598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E4BDC-42BF-F78E-0E6A-B907ABFD13D3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Milestone this round buys -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87093-7DF5-C9EA-80D7-B21313785BBE}"/>
              </a:ext>
            </a:extLst>
          </p:cNvPr>
          <p:cNvSpPr txBox="1"/>
          <p:nvPr/>
        </p:nvSpPr>
        <p:spPr>
          <a:xfrm>
            <a:off x="1270000" y="1587500"/>
            <a:ext cx="9652000" cy="1323439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000">
                <a:solidFill>
                  <a:srgbClr val="2B2520"/>
                </a:solidFill>
                <a:latin typeface="Aptos" panose="020B0004020202020204" pitchFamily="34" charset="0"/>
              </a:rPr>
              <a:t>One paid campus pilot with a repeatable rental loop.`n`n30 student interviews`n75 pilot rentals`n1 paid sponsor or campus`n80% on-time return target`n`nGo/no-go: expand only if rental contribution is positive, fit satisfaction reaches 85%, and returns meet the target.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8482C6-658C-ADD9-AD29-68D0664D9010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9 of 10</a:t>
            </a:r>
          </a:p>
        </p:txBody>
      </p:sp>
    </p:spTree>
    <p:extLst>
      <p:ext uri="{BB962C8B-B14F-4D97-AF65-F5344CB8AC3E}">
        <p14:creationId xmlns:p14="http://schemas.microsoft.com/office/powerpoint/2010/main" val="1493115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7A6160-FE59-8D76-8766-761CCE6D7878}"/>
              </a:ext>
            </a:extLst>
          </p:cNvPr>
          <p:cNvSpPr txBox="1"/>
          <p:nvPr/>
        </p:nvSpPr>
        <p:spPr>
          <a:xfrm>
            <a:off x="762000" y="571500"/>
            <a:ext cx="10668000" cy="523220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2800" b="1">
                <a:solidFill>
                  <a:srgbClr val="5F365F"/>
                </a:solidFill>
                <a:latin typeface="Aptos" panose="020B0004020202020204" pitchFamily="34" charset="0"/>
              </a:rPr>
              <a:t>Financing fit + close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1D93A-FA60-96AA-F449-56268BD1E384}"/>
              </a:ext>
            </a:extLst>
          </p:cNvPr>
          <p:cNvSpPr txBox="1"/>
          <p:nvPr/>
        </p:nvSpPr>
        <p:spPr>
          <a:xfrm>
            <a:off x="1270000" y="1587500"/>
            <a:ext cx="9652000" cy="1846659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900">
                <a:solidFill>
                  <a:srgbClr val="2B2520"/>
                </a:solidFill>
                <a:latin typeface="Aptos" panose="020B0004020202020204" pitchFamily="34" charset="0"/>
              </a:rPr>
              <a:t>A small SAFE fits an inventory-backed pilot with unproven demand.`n`nWhy this fit: Debt is a poor fit before rental volume is predictable. A large equity round would overprice a hypothesis. A small SAFE funds inventory and evidence.`n`nInvestor recommendation: Fund $15,000 conditionally, with expansion tied to paid demand and return discipline.`n`nCareerCloset makes professional access affordable while giving campuses a measurable career-readiness tool.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DA4C9-523A-87CC-A19F-F23BE2957556}"/>
              </a:ext>
            </a:extLst>
          </p:cNvPr>
          <p:cNvSpPr txBox="1"/>
          <p:nvPr/>
        </p:nvSpPr>
        <p:spPr>
          <a:xfrm>
            <a:off x="5080000" y="6223000"/>
            <a:ext cx="2032000" cy="246221"/>
          </a:xfrm>
          <a:prstGeom prst="rect">
            <a:avLst/>
          </a:prstGeom>
          <a:noFill/>
        </p:spPr>
        <p:txBody>
          <a:bodyPr vert="horz" wrap="square" lIns="101600" rIns="101600" rtlCol="0" anchor="ctr">
            <a:spAutoFit/>
          </a:bodyPr>
          <a:lstStyle/>
          <a:p>
            <a:pPr algn="ctr"/>
            <a:r>
              <a:rPr lang="en-US" sz="1000">
                <a:solidFill>
                  <a:srgbClr val="77706B"/>
                </a:solidFill>
                <a:latin typeface="Aptos" panose="020B0004020202020204" pitchFamily="34" charset="0"/>
              </a:rPr>
              <a:t>Slide 10 of 10</a:t>
            </a:r>
          </a:p>
        </p:txBody>
      </p:sp>
    </p:spTree>
    <p:extLst>
      <p:ext uri="{BB962C8B-B14F-4D97-AF65-F5344CB8AC3E}">
        <p14:creationId xmlns:p14="http://schemas.microsoft.com/office/powerpoint/2010/main" val="395500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Custom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Pavloff</dc:creator>
  <cp:lastModifiedBy>Grace Pavloff</cp:lastModifiedBy>
  <cp:revision>1</cp:revision>
  <dcterms:created xsi:type="dcterms:W3CDTF">2026-09-23T16:13:41Z</dcterms:created>
  <dcterms:modified xsi:type="dcterms:W3CDTF">2026-09-23T16:13:41Z</dcterms:modified>
</cp:coreProperties>
</file>